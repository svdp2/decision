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34eb984bcc4a9f" /><Relationship Type="http://schemas.openxmlformats.org/officeDocument/2006/relationships/extended-properties" Target="/docProps/app.xml" Id="Rf0a9a9c5220a4ecd" /><Relationship Type="http://schemas.openxmlformats.org/officeDocument/2006/relationships/officeDocument" Target="/ppt/presentation.xml" Id="R7b2379bcea2249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ba1670d34b4800"/>
  </p:sldMasterIdLst>
  <p:notesMasterIdLst>
    <p:notesMasterId xmlns:r="http://schemas.openxmlformats.org/officeDocument/2006/relationships" r:id="R4570a239148a4de8"/>
  </p:notesMasterIdLst>
  <p:sldIdLst>
    <p:sldId xmlns:r="http://schemas.openxmlformats.org/officeDocument/2006/relationships" id="256" r:id="R2e4a31d6d0ee45e0"/>
    <p:sldId xmlns:r="http://schemas.openxmlformats.org/officeDocument/2006/relationships" id="257" r:id="R39d580c9441c44b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ba1670d34b4800" /><Relationship Type="http://schemas.openxmlformats.org/officeDocument/2006/relationships/theme" Target="/ppt/theme/theme1.xml" Id="R5e0a08fcf60e41dc" /><Relationship Type="http://schemas.openxmlformats.org/officeDocument/2006/relationships/notesMaster" Target="/ppt/notesMasters/notesMaster1.xml" Id="R4570a239148a4de8" /><Relationship Type="http://schemas.openxmlformats.org/officeDocument/2006/relationships/presProps" Target="/ppt/presProps.xml" Id="Rf379d35be7bb4fb5" /><Relationship Type="http://schemas.openxmlformats.org/officeDocument/2006/relationships/viewProps" Target="/ppt/viewProps.xml" Id="R35f5151f86ec4a85" /><Relationship Type="http://schemas.openxmlformats.org/officeDocument/2006/relationships/tableStyles" Target="/ppt/tableStyles.xml" Id="R1e04bdff8dad468d" /><Relationship Type="http://schemas.openxmlformats.org/officeDocument/2006/relationships/slide" Target="/ppt/slides/slide1.xml" Id="R2e4a31d6d0ee45e0" /><Relationship Type="http://schemas.openxmlformats.org/officeDocument/2006/relationships/slide" Target="/ppt/slides/slide2.xml" Id="R39d580c9441c44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5c9b61526874c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1b0e78603846c5" /><Relationship Type="http://schemas.openxmlformats.org/officeDocument/2006/relationships/notesMaster" Target="/ppt/notesMasters/notesMaster1.xml" Id="Rf5393e57749442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9046512209439d" /><Relationship Type="http://schemas.openxmlformats.org/officeDocument/2006/relationships/notesMaster" Target="/ppt/notesMasters/notesMaster1.xml" Id="Rf3b493557a1f44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f8aeb7ff17413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551ecd9c4ef465f" /><Relationship Type="http://schemas.openxmlformats.org/officeDocument/2006/relationships/slideLayout" Target="/ppt/slideLayouts/slideLayout2.xml" Id="R448c1f4730e447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8c1f4730e447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5eaa265a1a46eb" /><Relationship Type="http://schemas.openxmlformats.org/officeDocument/2006/relationships/notesSlide" Target="/ppt/notesSlides/notesSlide1.xml" Id="Rccde05851b7e41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e9ca8879ca4757" /><Relationship Type="http://schemas.openxmlformats.org/officeDocument/2006/relationships/notesSlide" Target="/ppt/notesSlides/notesSlide2.xml" Id="Rf356555f749248d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66E7A7-C324-4222-B7F7-BDF3A1F8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0">
            <a:solidFill>
              <a:srgbClr val="F6F3EE"/>
            </a:solidFill>
            <a:prstDash val="solid"/>
          </a:ln>
        </p:spPr>
      </p:sp>
      <p:sp>
        <p:nvSpPr>
          <p:cNvPr id="2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F4873A0C-4CE3-47D4-87DC-0EC829AA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2D"/>
          </a:solidFill>
          <a:ln xmlns:a="http://schemas.openxmlformats.org/drawingml/2006/main" w="0">
            <a:solidFill>
              <a:srgbClr val="C7772D"/>
            </a:solidFill>
            <a:prstDash val="solid"/>
          </a:ln>
        </p:spPr>
      </p:sp>
      <p:sp>
        <p:nvSpPr>
          <p:cNvPr id="3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E6A26BF9-1998-437C-9968-F0CF5AF4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LEADER DECISION / CURRENT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2D07F-6FA1-4F33-BAB1-CA2B62EF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838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2027"/>
                </a:solidFill>
                <a:latin typeface="Apple SD Gothic Neo"/>
                <a:ea typeface="Apple SD Gothic Neo"/>
                <a:cs typeface="Apple SD Gothic Neo"/>
              </a:rPr>
              <a:t>Leader Decision은 mission 선택과 safety 선점을 분리한다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C7C16-828E-4601-AC69-66DCCCA2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Perception/GPS/Planning 입력을 받아 주행 상태를 정하고, 위험 신호는 모든 mission 위에서 throttle을 0으로 선점한다.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B26567-5A01-49D6-BC0E-66813938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5300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D"/>
          </a:solidFill>
          <a:ln xmlns:a="http://schemas.openxmlformats.org/drawingml/2006/main" w="7620">
            <a:solidFill>
              <a:srgbClr val="C8BFB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2A433-0030-4CFB-B224-45168A94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00075"/>
            <a:ext cx="1571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7"/>
                </a:solidFill>
                <a:latin typeface="Apple SD Gothic Neo"/>
                <a:ea typeface="Apple SD Gothic Neo"/>
                <a:cs typeface="Apple SD Gothic Neo"/>
              </a:rPr>
              <a:t>GP_Decision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DE3258-5DC2-4502-8F5C-2802D898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828675"/>
            <a:ext cx="1571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Leader vehicle driving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DFE679-4080-4149-B7D2-D0C4B387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D"/>
          </a:solidFill>
          <a:ln xmlns:a="http://schemas.openxmlformats.org/drawingml/2006/main" w="9525">
            <a:solidFill>
              <a:srgbClr val="C8BFB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17DF16-B62F-4274-98B3-DA7464D4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2D"/>
          </a:solidFill>
          <a:ln xmlns:a="http://schemas.openxmlformats.org/drawingml/2006/main" w="0">
            <a:solidFill>
              <a:srgbClr val="C777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A40EA-2BB4-4DA2-B4FD-21724B21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90775"/>
            <a:ext cx="22193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72027"/>
                </a:solidFill>
                <a:latin typeface="Apple SD Gothic Neo"/>
                <a:ea typeface="Apple SD Gothic Neo"/>
                <a:cs typeface="Apple SD Gothic Neo"/>
              </a:rPr>
              <a:t>Perception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036EA-81F4-4592-BDF3-5B546C3B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22193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/drive_context</a:t>
            </a:r>
          </a:p>
          <a:p xmlns:a="http://schemas.openxmlformats.org/drawingml/2006/main">
            <a:pPr algn="l">
              <a:defRPr sz="101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/traffic_stop, /intersection</a:t>
            </a:r>
          </a:p>
          <a:p xmlns:a="http://schemas.openxmlformats.org/drawingml/2006/main">
            <a:pPr algn="l">
              <a:defRPr sz="101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/roi_warning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BEE7C0-0512-45FB-90A6-6CAEB644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D"/>
          </a:solidFill>
          <a:ln xmlns:a="http://schemas.openxmlformats.org/drawingml/2006/main" w="9525">
            <a:solidFill>
              <a:srgbClr val="C8BFB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1FFFCB-49D5-4903-A79E-C21C88C6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solidFill>
              <a:srgbClr val="2F5D7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29653D-5444-4197-8440-2B9FE126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22193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72027"/>
                </a:solidFill>
                <a:latin typeface="Apple SD Gothic Neo"/>
                <a:ea typeface="Apple SD Gothic Neo"/>
                <a:cs typeface="Apple SD Gothic Neo"/>
              </a:rPr>
              <a:t>GPS / Localization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A712C5-EA83-4BE5-9108-8909F9B5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6175"/>
            <a:ext cx="22193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/csv_path</a:t>
            </a:r>
          </a:p>
          <a:p xmlns:a="http://schemas.openxmlformats.org/drawingml/2006/main">
            <a:pPr algn="l">
              <a:defRPr sz="101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TF: csv → vehicle_ref</a:t>
            </a:r>
          </a:p>
          <a:p xmlns:a="http://schemas.openxmlformats.org/drawingml/2006/main">
            <a:pPr algn="l">
              <a:defRPr sz="101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/vehicle_heading_valid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A3625D-2432-4D5D-A26D-014AE35E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D"/>
          </a:solidFill>
          <a:ln xmlns:a="http://schemas.openxmlformats.org/drawingml/2006/main" w="9525">
            <a:solidFill>
              <a:srgbClr val="C8BFB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752C7A-91F3-4904-B0C0-AEF21DC7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89665E-C057-49CF-8593-4CED7D7C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71975"/>
            <a:ext cx="22193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72027"/>
                </a:solidFill>
                <a:latin typeface="Apple SD Gothic Neo"/>
                <a:ea typeface="Apple SD Gothic Neo"/>
                <a:cs typeface="Apple SD Gothic Neo"/>
              </a:rPr>
              <a:t>Planning command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5EE4AC-FC2F-48EB-91A0-79EAE172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76775"/>
            <a:ext cx="22193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/throttle_from_planning</a:t>
            </a:r>
          </a:p>
          <a:p xmlns:a="http://schemas.openxmlformats.org/drawingml/2006/main">
            <a:pPr algn="l">
              <a:defRPr sz="101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Highway or Complex source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4E9C56-9AAC-4366-93A6-86A42D08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47950"/>
            <a:ext cx="323850" cy="20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2D"/>
          </a:solidFill>
          <a:ln xmlns:a="http://schemas.openxmlformats.org/drawingml/2006/main" w="0">
            <a:solidFill>
              <a:srgbClr val="C7772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0FA282-3A0F-4237-926A-8E683C21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431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77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7772D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B4C505-2C4A-4BC8-9A37-2FA90F71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479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47F180-91B8-4AEB-80C7-61D5F4ED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38550"/>
            <a:ext cx="323850" cy="20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solidFill>
              <a:srgbClr val="2F5D7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D3C9ED-7CD3-4975-9445-CF302B50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337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D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5D7C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69F267-1CEF-4A21-BB04-82A60A65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pose/path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5C6387-A7B2-4C7F-BDFA-2963EED5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29150"/>
            <a:ext cx="323850" cy="20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925EC2-ED9B-4101-80FD-3FA8C4BD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243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99C899-F635-49C1-A43E-4CEA97E4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291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planning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F9F266-49D1-4E00-9A57-ADE3C99E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76450"/>
            <a:ext cx="47625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7202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88D130-4BF7-404C-BE4A-53EFD386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238375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7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172027"/>
                </a:solidFill>
                <a:latin typeface="Menlo"/>
                <a:ea typeface="Menlo"/>
                <a:cs typeface="Menlo"/>
              </a:rPr>
              <a:t>mission_supervisor_node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45246B-70D4-46B6-88CA-FAB1DADD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6695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preemptive state machine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8854C1-94DA-44D0-BE2F-C4C11678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28900"/>
            <a:ext cx="4191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D"/>
          </a:solidFill>
          <a:ln xmlns:a="http://schemas.openxmlformats.org/drawingml/2006/main" w="9525">
            <a:solidFill>
              <a:srgbClr val="2F5D7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36B92C-E360-4D2E-B0E1-96D115BD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289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solidFill>
              <a:srgbClr val="2F5D7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6F28E6-AA77-475B-BA51-237B0CCF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52725"/>
            <a:ext cx="388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D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5D7C"/>
                </a:solidFill>
                <a:latin typeface="Apple SD Gothic Neo"/>
                <a:ea typeface="Apple SD Gothic Neo"/>
                <a:cs typeface="Apple SD Gothic Neo"/>
              </a:rPr>
              <a:t>Mission layer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129D04-BDEC-4401-A51D-7134F32D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057525"/>
            <a:ext cx="388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/drive_context → HIGHWAY / CITY / COMPLEX</a:t>
            </a:r>
          </a:p>
          <a:p xmlns:a="http://schemas.openxmlformats.org/drawingml/2006/main">
            <a:pPr algn="l">
              <a:defRPr sz="1088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active_algorithm과 mission별 throttle policy 결정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1152BA-574C-4E08-A2A7-9737F644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05250"/>
            <a:ext cx="4191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D8D4"/>
          </a:solidFill>
          <a:ln xmlns:a="http://schemas.openxmlformats.org/drawingml/2006/main" w="9525">
            <a:solidFill>
              <a:srgbClr val="B84A3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552430-134E-4CE2-9F4B-3E7D7255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052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3A"/>
          </a:solidFill>
          <a:ln xmlns:a="http://schemas.openxmlformats.org/drawingml/2006/main" w="0">
            <a:solidFill>
              <a:srgbClr val="B84A3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22F906-8890-4BC3-88D2-1C96956D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029075"/>
            <a:ext cx="388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4A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B84A3A"/>
                </a:solidFill>
                <a:latin typeface="Apple SD Gothic Neo"/>
                <a:ea typeface="Apple SD Gothic Neo"/>
                <a:cs typeface="Apple SD Gothic Neo"/>
              </a:rPr>
              <a:t>Safety layer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FE6281-104E-4734-8E6B-74CD81AF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333875"/>
            <a:ext cx="388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7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/manual_stop, /safety_stop</a:t>
            </a:r>
          </a:p>
          <a:p xmlns:a="http://schemas.openxmlformats.org/drawingml/2006/main">
            <a:pPr algn="l">
              <a:defRPr sz="107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7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/traffic_stop &amp;&amp; /intersection</a:t>
            </a:r>
          </a:p>
          <a:p xmlns:a="http://schemas.openxmlformats.org/drawingml/2006/main">
            <a:pPr algn="l">
              <a:defRPr sz="107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7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/roi_warning → throttle_cmd = 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678DF2-B77C-4D99-B424-A1C899A6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2905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3A"/>
          </a:solidFill>
          <a:ln xmlns:a="http://schemas.openxmlformats.org/drawingml/2006/main" w="0">
            <a:solidFill>
              <a:srgbClr val="B84A3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BC65A9-A003-4E9C-AAA9-80DF7EB4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48075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B84A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B84A3A"/>
                </a:solidFill>
                <a:latin typeface="Apple SD Gothic Neo"/>
                <a:ea typeface="Apple SD Gothic Neo"/>
                <a:cs typeface="Apple SD Gothic Neo"/>
              </a:rPr>
              <a:t>safety has priority over every mission state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A8D375-52CA-4069-BB76-A4819D8D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14650"/>
            <a:ext cx="266700" cy="20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solidFill>
              <a:srgbClr val="2F5D7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EE61A22-1210-469C-B407-DBDD07F1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098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D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5D7C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36BAB1-55A7-4CE7-A24C-BC67F6DC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status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202DBE-8378-47AF-AC45-695D229A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00550"/>
            <a:ext cx="266700" cy="20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3A"/>
          </a:solidFill>
          <a:ln xmlns:a="http://schemas.openxmlformats.org/drawingml/2006/main" w="0">
            <a:solidFill>
              <a:srgbClr val="B84A3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1A5CC52-6B79-470D-B020-04E4587A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957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84A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B84A3A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B309050-590C-4B6D-AB5D-1C21223E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005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cmd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C9FED11-C4B7-4012-A753-E47D4058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FB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84C1BE0-B1D9-4659-88F8-94A2AE16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solidFill>
              <a:srgbClr val="2F5D7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C0D6D09-E3E0-4905-A5C5-D2F66DB6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05075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72027"/>
                </a:solidFill>
                <a:latin typeface="Apple SD Gothic Neo"/>
                <a:ea typeface="Apple SD Gothic Neo"/>
                <a:cs typeface="Apple SD Gothic Neo"/>
              </a:rPr>
              <a:t>State visibility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AD2287C-FFC1-494E-894A-0DC0993A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09875"/>
            <a:ext cx="2266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/mission_state</a:t>
            </a:r>
          </a:p>
          <a:p xmlns:a="http://schemas.openxmlformats.org/drawingml/2006/main">
            <a:pPr algn="l">
              <a:defRPr sz="101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/active_algorithm</a:t>
            </a:r>
          </a:p>
          <a:p xmlns:a="http://schemas.openxmlformats.org/drawingml/2006/main">
            <a:pPr algn="l">
              <a:defRPr sz="101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/safety_status, /safety_active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850F538-CCB5-4CE9-9DF1-ACEAA880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0525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FB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F013649-D490-4E7A-9BBE-BD229128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052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34EC191-97A8-47BE-AC4C-011DCBB7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29075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72027"/>
                </a:solidFill>
                <a:latin typeface="Apple SD Gothic Neo"/>
                <a:ea typeface="Apple SD Gothic Neo"/>
                <a:cs typeface="Apple SD Gothic Neo"/>
              </a:rPr>
              <a:t>Vehicle command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6096E4D-0B27-4A1E-B6B2-87594623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333875"/>
            <a:ext cx="2266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/throttle_cmd</a:t>
            </a:r>
          </a:p>
          <a:p xmlns:a="http://schemas.openxmlformats.org/drawingml/2006/main">
            <a:pPr algn="l">
              <a:defRPr sz="101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planning throttle passes through only when safety is clear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E5D5712-C327-4F57-A5A3-51F39B38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435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mission별 속도 정책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EAC2A2E-7C0D-422A-9EBF-B8E937C3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3333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F5D7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2B26EEC-F380-4EB2-82E2-FA28129B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solidFill>
              <a:srgbClr val="2F5D7C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24A074D-F976-4390-B4D8-CD0DDD34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34075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7"/>
                </a:solidFill>
                <a:latin typeface="Apple SD Gothic Neo"/>
                <a:ea typeface="Apple SD Gothic Neo"/>
                <a:cs typeface="Apple SD Gothic Neo"/>
              </a:rPr>
              <a:t>HIGHWAY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E0A79E5-024B-4E66-A0A5-513E7BC5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62675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GPS path tracking / scale 1.0, limit 0.7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1A72D15-D233-4B1B-AA7F-2A6B7717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829300"/>
            <a:ext cx="3333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772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096C31C-47CD-4737-B932-49951C94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82930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2D"/>
          </a:solidFill>
          <a:ln xmlns:a="http://schemas.openxmlformats.org/drawingml/2006/main" w="0">
            <a:solidFill>
              <a:srgbClr val="C7772D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9232A85-0259-40EF-8781-A6DEA352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934075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7"/>
                </a:solidFill>
                <a:latin typeface="Apple SD Gothic Neo"/>
                <a:ea typeface="Apple SD Gothic Neo"/>
                <a:cs typeface="Apple SD Gothic Neo"/>
              </a:rPr>
              <a:t>CITY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DCD81E3-5B51-4FBB-B44A-58879390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162675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GPS tracking + low-speed policy / scale 0.75, limit 0.5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232B81B-1343-4F81-912D-557EC17D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829300"/>
            <a:ext cx="3333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5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84FBD53-55F8-49BD-9054-EA485C96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82930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DDCFDB2-8FD9-431D-AE73-53AFDD36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934075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7"/>
                </a:solidFill>
                <a:latin typeface="Apple SD Gothic Neo"/>
                <a:ea typeface="Apple SD Gothic Neo"/>
                <a:cs typeface="Apple SD Gothic Neo"/>
              </a:rPr>
              <a:t>COMPLEX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112DA14-A2EE-470E-8C9E-AFC76DB0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162675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GPS targeting + local planner policy / scale 0.6, limit 0.4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55CCC23-0D6D-4DFE-99E0-02D7DE5F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29400"/>
            <a:ext cx="533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Sources: README.md, mission_supervisor_logic.py, mission_supervisor.yaml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3FAD984-DDFC-4DA2-8ECB-0DEB2DC4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610350"/>
            <a:ext cx="619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1 / 2</a:t>
            </a:r>
          </a:p>
        </p:txBody>
      </p:sp>
    </p:spTree>
    <p:extLst>
      <p:ext uri="{BB962C8B-B14F-4D97-AF65-F5344CB8AC3E}">
        <p14:creationId xmlns:p14="http://schemas.microsoft.com/office/powerpoint/2010/main" val="18446586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7D3147-454D-4DE5-AC60-54CE7EB9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0">
            <a:solidFill>
              <a:srgbClr val="F6F3EE"/>
            </a:solidFill>
            <a:prstDash val="solid"/>
          </a:ln>
        </p:spPr>
      </p:sp>
      <p:sp>
        <p:nvSpPr>
          <p:cNvPr id="2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5DE7592D-3A78-428B-BD4C-5C2048AA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3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B647CAC2-8393-4B50-9FF5-9F3017D9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COMPLEX FLOW / 1ST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B602B-1B5F-4657-BCB4-AF11768F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9048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72027"/>
                </a:solidFill>
                <a:latin typeface="Apple SD Gothic Neo"/>
                <a:ea typeface="Apple SD Gothic Neo"/>
                <a:cs typeface="Apple SD Gothic Neo"/>
              </a:rPr>
              <a:t>Complex에서는 GPS가 목표를 주고 LiDAR/RRT가 local path를 만든다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66E7A-F1ED-4C4A-8AC8-E02F9028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Highway와 Complex planning command는 command_mux에서 선택되고, 최종 throttle은 mission_supervisor의 safety gate를 지난다.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605D15-410C-44BC-B8E1-B42AA819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Complex lane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3BB512-C33A-4DB6-B14E-CB4E2E83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1476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D"/>
          </a:solidFill>
          <a:ln xmlns:a="http://schemas.openxmlformats.org/drawingml/2006/main" w="9525">
            <a:solidFill>
              <a:srgbClr val="C8BFB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7B866-E21C-4853-9A59-D3A162ED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2D"/>
          </a:solidFill>
          <a:ln xmlns:a="http://schemas.openxmlformats.org/drawingml/2006/main" w="0">
            <a:solidFill>
              <a:srgbClr val="C7772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8E447-6AEA-4359-BC91-B6AAB64B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209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1">
                <a:solidFill>
                  <a:srgbClr val="172027"/>
                </a:solidFill>
                <a:latin typeface="Apple SD Gothic Neo"/>
                <a:ea typeface="Apple SD Gothic Neo"/>
                <a:cs typeface="Apple SD Gothic Neo"/>
              </a:rPr>
              <a:t>CSV path + TF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D8CE3-3F75-4F50-B2E6-B4C518FE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209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전역 GPS path</a:t>
            </a:r>
          </a:p>
          <a:p xmlns:a="http://schemas.openxmlformats.org/drawingml/2006/main">
            <a:pPr algn="l">
              <a:defRPr sz="938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vehicle_ref 변환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EB2A09-0A7E-401D-83D9-221DB721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6695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0CD"/>
          </a:solidFill>
          <a:ln xmlns:a="http://schemas.openxmlformats.org/drawingml/2006/main" w="9525">
            <a:solidFill>
              <a:srgbClr val="C8BFB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4186AD-014F-4BE9-AD88-9FB72BB4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669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2D"/>
          </a:solidFill>
          <a:ln xmlns:a="http://schemas.openxmlformats.org/drawingml/2006/main" w="0">
            <a:solidFill>
              <a:srgbClr val="C7772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D83A4D-DA2F-489A-8DC9-E66CD67A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8125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7"/>
                </a:solidFill>
                <a:latin typeface="Menlo"/>
                <a:ea typeface="Menlo"/>
                <a:cs typeface="Menlo"/>
              </a:defRPr>
            </a:pPr>
            <a:r>
              <a:rPr sz="1163" b="1">
                <a:solidFill>
                  <a:srgbClr val="172027"/>
                </a:solidFill>
                <a:latin typeface="Menlo"/>
                <a:ea typeface="Menlo"/>
                <a:cs typeface="Menlo"/>
              </a:rPr>
              <a:t>complex_target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AC1C9-1BD2-4E04-B1A7-C887BAEC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479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/csv_path →</a:t>
            </a:r>
          </a:p>
          <a:p xmlns:a="http://schemas.openxmlformats.org/drawingml/2006/main">
            <a:pPr algn="l">
              <a:defRPr sz="938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/complex/rrt_target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3704A5-D4C7-4ECA-A3A6-D139BC88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2038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1"/>
          </a:solidFill>
          <a:ln xmlns:a="http://schemas.openxmlformats.org/drawingml/2006/main" w="9525">
            <a:solidFill>
              <a:srgbClr val="C8BFB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B1E413-7B52-4EA6-B286-2D605A3B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CCCBAE-5F74-48C0-9AAB-D8546D06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05050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RRT planner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23DACF-A2BA-4A61-9D19-6ABBFDA0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71750"/>
            <a:ext cx="177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85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cone obstacle + target</a:t>
            </a:r>
          </a:p>
          <a:p xmlns:a="http://schemas.openxmlformats.org/drawingml/2006/main">
            <a:pPr algn="l">
              <a:defRPr sz="885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85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RRT/corridor branch</a:t>
            </a:r>
          </a:p>
          <a:p xmlns:a="http://schemas.openxmlformats.org/drawingml/2006/main">
            <a:pPr algn="l">
              <a:defRPr sz="885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85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→ /complex/local_path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DE63C6-526C-41B5-BFD3-8636CF55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266950"/>
            <a:ext cx="11525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FB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6204F9-3B07-4B13-8E13-E39E7306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2669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D97487-EDE3-4F71-973B-028F102A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381250"/>
            <a:ext cx="8858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Complex PP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8DAC44-81A9-4C6D-80EE-DF9B6863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647950"/>
            <a:ext cx="885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85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local path 추종</a:t>
            </a:r>
          </a:p>
          <a:p xmlns:a="http://schemas.openxmlformats.org/drawingml/2006/main">
            <a:pPr algn="l">
              <a:defRPr sz="885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85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steer + throttle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5B0062-9CAB-4034-ADDF-80E4D7C8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28900"/>
            <a:ext cx="190500" cy="20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2D"/>
          </a:solidFill>
          <a:ln xmlns:a="http://schemas.openxmlformats.org/drawingml/2006/main" w="0">
            <a:solidFill>
              <a:srgbClr val="C7772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45F0AC-1787-4F50-9ACE-ACC08DE7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241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77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7772D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E647D4-DF6E-4250-B86C-CD45AA2F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628900"/>
            <a:ext cx="200025" cy="20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482B7D-4D2B-452A-B62A-821A2ED5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241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FA06CB-623E-46FD-89E8-E8307126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628900"/>
            <a:ext cx="190500" cy="20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9E8BBA-54A6-49B3-A053-2117044C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5241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6034F5-6C32-46FB-9582-52F68A43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1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5D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F5D7C"/>
                </a:solidFill>
                <a:latin typeface="Apple SD Gothic Neo"/>
                <a:ea typeface="Apple SD Gothic Neo"/>
                <a:cs typeface="Apple SD Gothic Neo"/>
              </a:rPr>
              <a:t>Highway lane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E4D0D5-674F-4D91-B301-81832175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1476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D"/>
          </a:solidFill>
          <a:ln xmlns:a="http://schemas.openxmlformats.org/drawingml/2006/main" w="9525">
            <a:solidFill>
              <a:srgbClr val="C8BFB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1F54AF-C8C9-4874-8A98-F6A676AF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solidFill>
              <a:srgbClr val="2F5D7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9E1AD1-E2F6-4417-920F-0D40AB4F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1209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1">
                <a:solidFill>
                  <a:srgbClr val="172027"/>
                </a:solidFill>
                <a:latin typeface="Apple SD Gothic Neo"/>
                <a:ea typeface="Apple SD Gothic Neo"/>
                <a:cs typeface="Apple SD Gothic Neo"/>
              </a:rPr>
              <a:t>ROI path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2FA623-3D0E-4FDB-A7D4-F60143B9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1209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전방 ROI 생성</a:t>
            </a:r>
          </a:p>
          <a:p xmlns:a="http://schemas.openxmlformats.org/drawingml/2006/main">
            <a:pPr algn="l">
              <a:defRPr sz="938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/roi_path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4EF27F-E8A4-45F1-890D-72082A76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1950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FB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D8C421-9CD7-4B6C-8DCB-9D5E28CE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195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solidFill>
              <a:srgbClr val="2F5D7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15D5FB-F441-415E-92F9-1CE75E79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3380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7"/>
                </a:solidFill>
                <a:latin typeface="Menlo"/>
                <a:ea typeface="Menlo"/>
                <a:cs typeface="Menlo"/>
              </a:defRPr>
            </a:pPr>
            <a:r>
              <a:rPr sz="1163" b="1">
                <a:solidFill>
                  <a:srgbClr val="172027"/>
                </a:solidFill>
                <a:latin typeface="Menlo"/>
                <a:ea typeface="Menlo"/>
                <a:cs typeface="Menlo"/>
              </a:rPr>
              <a:t>pure_pursuit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48B547-E690-4EE2-900B-495AF420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005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85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Highway GPS tracking</a:t>
            </a:r>
          </a:p>
          <a:p xmlns:a="http://schemas.openxmlformats.org/drawingml/2006/main">
            <a:pPr algn="l">
              <a:defRPr sz="885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85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/highway/* command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3617B9-2D65-45A3-B808-16E66769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81450"/>
            <a:ext cx="190500" cy="20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solidFill>
              <a:srgbClr val="2F5D7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FA4546-1FA9-480F-85DD-612DA25F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766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D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5D7C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35EEE5-18E7-4DA9-978C-E3EE7E69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76650"/>
            <a:ext cx="1666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FB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6AFD656-3577-4F3F-9CDD-F7CB9034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766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7"/>
          </a:solidFill>
          <a:ln xmlns:a="http://schemas.openxmlformats.org/drawingml/2006/main" w="0">
            <a:solidFill>
              <a:srgbClr val="17202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731DE8-4B1F-4F1C-B644-27117DD1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90950"/>
            <a:ext cx="1400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7"/>
                </a:solidFill>
                <a:latin typeface="Menlo"/>
                <a:ea typeface="Menlo"/>
                <a:cs typeface="Menlo"/>
              </a:defRPr>
            </a:pPr>
            <a:r>
              <a:rPr sz="1163" b="1">
                <a:solidFill>
                  <a:srgbClr val="172027"/>
                </a:solidFill>
                <a:latin typeface="Menlo"/>
                <a:ea typeface="Menlo"/>
                <a:cs typeface="Menlo"/>
              </a:rPr>
              <a:t>command_mux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CC16D0-F85B-43E9-881D-25C1321F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57650"/>
            <a:ext cx="14001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mission_state 또는</a:t>
            </a:r>
          </a:p>
          <a:p xmlns:a="http://schemas.openxmlformats.org/drawingml/2006/main">
            <a:pPr algn="l">
              <a:defRPr sz="938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/drive_context 기준 선택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26B4391-7CA2-431A-81A3-E56B745A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766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D8D4"/>
          </a:solidFill>
          <a:ln xmlns:a="http://schemas.openxmlformats.org/drawingml/2006/main" w="9525">
            <a:solidFill>
              <a:srgbClr val="C8BFB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37C7A1-1E28-4E62-BA7E-C58DD9BA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766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3A"/>
          </a:solidFill>
          <a:ln xmlns:a="http://schemas.openxmlformats.org/drawingml/2006/main" w="0">
            <a:solidFill>
              <a:srgbClr val="B84A3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AB59AD-3126-4029-90F2-BD994621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9095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B84A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1">
                <a:solidFill>
                  <a:srgbClr val="B84A3A"/>
                </a:solidFill>
                <a:latin typeface="Apple SD Gothic Neo"/>
                <a:ea typeface="Apple SD Gothic Neo"/>
                <a:cs typeface="Apple SD Gothic Neo"/>
              </a:rPr>
              <a:t>Supervisor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F88936-BE29-4C54-A620-9D2E4ED9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576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85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safety 선점 후</a:t>
            </a:r>
          </a:p>
          <a:p xmlns:a="http://schemas.openxmlformats.org/drawingml/2006/main">
            <a:pPr algn="l">
              <a:defRPr sz="885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85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/throttle_cmd 출력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31AD68F-EDCE-48D9-99CE-C0D52FD6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981450"/>
            <a:ext cx="285750" cy="20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solidFill>
              <a:srgbClr val="2F5D7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E770F3E-6D15-4732-8F88-2A72ADA1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766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D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5D7C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0B550C4-D1FA-430A-B9A8-33C5109E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028950"/>
            <a:ext cx="2095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8D00EC8-022F-4BED-AE04-96D69A27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05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v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E5B58F2-F057-44AF-9258-2B2EC29B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228600" cy="20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3A"/>
          </a:solidFill>
          <a:ln xmlns:a="http://schemas.openxmlformats.org/drawingml/2006/main" w="0">
            <a:solidFill>
              <a:srgbClr val="B84A3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CFDDC52-1089-4871-82EA-1C49033E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338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84A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B84A3A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1D2D563-9D9F-44E1-B0AE-EC0901CC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76750"/>
            <a:ext cx="1371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/auto_steer_angle</a:t>
            </a:r>
          </a:p>
          <a:p xmlns:a="http://schemas.openxmlformats.org/drawingml/2006/main">
            <a:pPr algn="ctr">
              <a:defRPr sz="825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/throttle_from_planning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DE0319F-C2AE-43AD-8657-374D984D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8387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/planning_command_source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C607768-7402-4C60-BF4F-65598CA9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66900"/>
            <a:ext cx="3524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8BFB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BE07FA3-D1DA-4310-B708-46E717EB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574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7"/>
                </a:solidFill>
                <a:latin typeface="Apple SD Gothic Neo"/>
                <a:ea typeface="Apple SD Gothic Neo"/>
                <a:cs typeface="Apple SD Gothic Neo"/>
              </a:rPr>
              <a:t>vehicle_ref 기준 Complex local view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ACE2242-106C-4CA6-99AA-1101253C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050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GPS는 목표점, LiDAR/RRT는 실제 local path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9675780-7242-4D84-9FEF-FBFD590F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476750"/>
            <a:ext cx="342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7"/>
          </a:solidFill>
          <a:ln xmlns:a="http://schemas.openxmlformats.org/drawingml/2006/main" w="0">
            <a:solidFill>
              <a:srgbClr val="17202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7CCF3FB-C45F-40CB-91B6-AA540CCD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10125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Leader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679E384-DE9E-4EBD-8D97-C86F054E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289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72D"/>
          </a:solidFill>
          <a:ln xmlns:a="http://schemas.openxmlformats.org/drawingml/2006/main" w="0">
            <a:solidFill>
              <a:srgbClr val="C7772D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B3DFDD0-CDA0-4CF0-BA99-9F62A503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6289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777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C7772D"/>
                </a:solidFill>
                <a:latin typeface="Apple SD Gothic Neo"/>
                <a:ea typeface="Apple SD Gothic Neo"/>
                <a:cs typeface="Apple SD Gothic Neo"/>
              </a:rPr>
              <a:t>RRT target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D7BC32D-2533-425B-A203-7A727FB7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72D"/>
          </a:solidFill>
          <a:ln xmlns:a="http://schemas.openxmlformats.org/drawingml/2006/main" w="0">
            <a:solidFill>
              <a:srgbClr val="C7772D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3001681-DA4A-4C63-A61B-CE89BFCB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524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72D"/>
          </a:solidFill>
          <a:ln xmlns:a="http://schemas.openxmlformats.org/drawingml/2006/main" w="0">
            <a:solidFill>
              <a:srgbClr val="C7772D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D187BC8-9167-4D36-A527-5CD32C00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48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72D"/>
          </a:solidFill>
          <a:ln xmlns:a="http://schemas.openxmlformats.org/drawingml/2006/main" w="0">
            <a:solidFill>
              <a:srgbClr val="C7772D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9718051-FC62-4F7A-BDD8-2CABDB7F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28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72D"/>
          </a:solidFill>
          <a:ln xmlns:a="http://schemas.openxmlformats.org/drawingml/2006/main" w="0">
            <a:solidFill>
              <a:srgbClr val="C7772D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F8CA318-4848-458C-A3BB-95BA5AB0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3524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72D"/>
          </a:solidFill>
          <a:ln xmlns:a="http://schemas.openxmlformats.org/drawingml/2006/main" w="0">
            <a:solidFill>
              <a:srgbClr val="C7772D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63E611A-A609-4B94-A050-DB126C37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057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72D"/>
          </a:solidFill>
          <a:ln xmlns:a="http://schemas.openxmlformats.org/drawingml/2006/main" w="0">
            <a:solidFill>
              <a:srgbClr val="C7772D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F2CEAFE-4942-4D8A-A82B-80D0135D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09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72D"/>
          </a:solidFill>
          <a:ln xmlns:a="http://schemas.openxmlformats.org/drawingml/2006/main" w="0">
            <a:solidFill>
              <a:srgbClr val="C7772D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FD87DAC-A428-45C4-ADB6-F4186057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57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72D"/>
          </a:solidFill>
          <a:ln xmlns:a="http://schemas.openxmlformats.org/drawingml/2006/main" w="0">
            <a:solidFill>
              <a:srgbClr val="C7772D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8645507-D0F8-4BC5-A6F4-EEC4BA17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386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C777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C7772D"/>
                </a:solidFill>
                <a:latin typeface="Apple SD Gothic Neo"/>
                <a:ea typeface="Apple SD Gothic Neo"/>
                <a:cs typeface="Apple SD Gothic Neo"/>
              </a:rPr>
              <a:t>LiDAR cone map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A1C2245-BC0F-4DBF-B138-4835C7AE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179677">
            <a:off x="9807496" y="4200525"/>
            <a:ext cx="25415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5446112-48FE-4A5B-B720-9B9CA679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924770">
            <a:off x="9761668" y="3952875"/>
            <a:ext cx="25056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8869269-5B31-4256-8661-1298BD0E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442845">
            <a:off x="9802741" y="3709988"/>
            <a:ext cx="28271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07C5ADB-ED1B-4A10-9CE7-A5D577C2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70148">
            <a:off x="9969553" y="3471863"/>
            <a:ext cx="33009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876D46A-30B4-411E-8E58-1997A80C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855679">
            <a:off x="10085711" y="3209925"/>
            <a:ext cx="28827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6686DEA-9931-422B-99B1-C000FEED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542401">
            <a:off x="9913581" y="2914650"/>
            <a:ext cx="37536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8E98DB2-8149-4DA1-B51A-7E646D3A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305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7238039-278D-4395-9048-EFF9115C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57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D770EA6-DFD8-40AF-A3B2-10B753D8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810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9140337-1892-497B-9584-2AC371A2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571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C25A729-0426-43B5-B306-8D6F484B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333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3B4CE9D-2B26-4F9F-820F-2472FE1E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4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3C53351-DAEB-488E-9FFA-921FC2EC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743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8BDCD24-C01A-4CB6-B53E-F63766F5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3624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/complex/local_path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AB94D51-44D5-4946-82E7-E705BDEF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0200"/>
            <a:ext cx="2266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772D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10F7C9B-00FC-4DFD-AA6D-716626E2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020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2D"/>
          </a:solidFill>
          <a:ln xmlns:a="http://schemas.openxmlformats.org/drawingml/2006/main" w="0">
            <a:solidFill>
              <a:srgbClr val="C7772D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203E78B-C980-440B-897D-DC7D4D5D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0545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C777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C7772D"/>
                </a:solidFill>
                <a:latin typeface="Apple SD Gothic Neo"/>
                <a:ea typeface="Apple SD Gothic Neo"/>
                <a:cs typeface="Apple SD Gothic Neo"/>
              </a:rPr>
              <a:t>1. GPS long-range intent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07B7A28-F299-4B2B-BB59-08F97C74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86425"/>
            <a:ext cx="1943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CSV path에서 전방 RRT target 생성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7000213-EEBA-4C56-92BB-4CA9AF16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410200"/>
            <a:ext cx="2266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D55038B-080A-4AC3-B2B0-93AFEE35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41020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AE4DD52-8827-4768-B562-296646BD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50545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2. LiDAR local evidence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0107156-454B-4C44-AFB0-991B3B32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86425"/>
            <a:ext cx="1943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cone/detected_objects를 obstacle로 사용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49AE561-DD46-424D-9164-B4C6D4AC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410200"/>
            <a:ext cx="2266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4A3A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F6CA7A0-F047-4EC7-8F2E-16D91BCF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41020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3A"/>
          </a:solidFill>
          <a:ln xmlns:a="http://schemas.openxmlformats.org/drawingml/2006/main" w="0">
            <a:solidFill>
              <a:srgbClr val="B84A3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CE6F150-ABF0-4A10-9BD6-78BD698E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50545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B84A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B84A3A"/>
                </a:solidFill>
                <a:latin typeface="Apple SD Gothic Neo"/>
                <a:ea typeface="Apple SD Gothic Neo"/>
                <a:cs typeface="Apple SD Gothic Neo"/>
              </a:rPr>
              <a:t>3. Shared command gate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249913F-20A1-464B-9556-4D42BE5E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686425"/>
            <a:ext cx="1943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mux 선택 뒤 supervisor safety 선점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B32E067-A293-474C-A646-F5694506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29400"/>
            <a:ext cx="7953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Sources: README.md, planning_single_f9p.launch.py, complex_target_node.py, complex_rrt_planner_node.py, command_mux_node.py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8E10030-6968-4AFE-AA0A-99DCE0D1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610350"/>
            <a:ext cx="619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F686F"/>
                </a:solidFill>
                <a:latin typeface="Apple SD Gothic Neo"/>
                <a:ea typeface="Apple SD Gothic Neo"/>
                <a:cs typeface="Apple SD Gothic Neo"/>
              </a:rPr>
              <a:t>2 / 2</a:t>
            </a:r>
          </a:p>
        </p:txBody>
      </p:sp>
    </p:spTree>
    <p:extLst>
      <p:ext uri="{BB962C8B-B14F-4D97-AF65-F5344CB8AC3E}">
        <p14:creationId xmlns:p14="http://schemas.microsoft.com/office/powerpoint/2010/main" val="1615583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2026-05-31T16:48:28.9960000Z</dcterms:created>
  <dcterms:modified xsi:type="dcterms:W3CDTF">2026-05-31T16:48:28.9960000Z</dcterms:modified>
</coreProperties>
</file>